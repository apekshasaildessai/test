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286000" cy="14730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  <a:latin typeface="Segoe UI"/>
              </a:defRPr>
            </a:pPr>
            <a:r>
              <a:t>Investor Information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Segoe UI"/>
              </a:defRPr>
            </a:pPr>
            <a:r>
              <a:t>Unlocking India's Emerging Equity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4AF37"/>
                </a:solidFill>
                <a:latin typeface="Segoe UI"/>
              </a:defRPr>
            </a:pPr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Company 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Greenflow Ventures Pvt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Positioned as a SEBI-compliant alternative investment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34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Focus: Unlocking India's emerging equity potential through structured, data-driven, and regulation-aligned investments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Flagship Fund: Credora Capital (Category I AIF)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1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93191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Outlook: Promising, aiming to tap into India's vibrant primary market ecosystem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Fund Details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Credora Capital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4572000" cy="1097280"/>
          </a:xfrm>
          <a:prstGeom prst="rect">
            <a:avLst/>
          </a:prstGeom>
          <a:solidFill>
            <a:srgbClr val="3C3C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Fund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Credora Capital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560320"/>
            <a:ext cx="4572000" cy="1097280"/>
          </a:xfrm>
          <a:prstGeom prst="rect">
            <a:avLst/>
          </a:prstGeom>
          <a:solidFill>
            <a:srgbClr val="3C3C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6517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01752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Category I AIF (under SEBI AIF Regulations, 2012)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4572000" cy="1097280"/>
          </a:xfrm>
          <a:prstGeom prst="rect">
            <a:avLst/>
          </a:prstGeom>
          <a:solidFill>
            <a:srgbClr val="3C3C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Close-ended fund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4114800"/>
            <a:ext cx="4572000" cy="1097280"/>
          </a:xfrm>
          <a:prstGeom prst="rect">
            <a:avLst/>
          </a:prstGeom>
          <a:solidFill>
            <a:srgbClr val="3C3C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2062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Registration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57200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To be registered with SEBI as per AIF norms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Investment Strategy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Capitalizing on India's Primary Market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Segoe UI"/>
              </a:defRPr>
            </a:pPr>
            <a:r>
              <a:t>Key Avenues</a:t>
            </a:r>
          </a:p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• Anchor investing in IPOs</a:t>
            </a:r>
          </a:p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• Pre-IPO and early-stage investment rounds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Segoe UI"/>
              </a:defRPr>
            </a:pPr>
            <a:r>
              <a:t>Fund Aims</a:t>
            </a:r>
          </a:p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• Maximize alpha by investing before public price discovery</a:t>
            </a:r>
          </a:p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• Optimize liquidity through participation in multiple IPO rounds</a:t>
            </a:r>
          </a:p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• Support SMEs with growth capital in their pre-IPO phases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Segoe UI"/>
              </a:defRPr>
            </a:pPr>
            <a:r>
              <a:t>Hybrid Strategy: Combines risk-mitigated anchor allocations with strategic exposure to high-growth early-stage companies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Investment Objective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Generating Consistent &amp; Risk-Adjusted Returns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5029200" cy="1371600"/>
          </a:xfrm>
          <a:prstGeom prst="rect">
            <a:avLst/>
          </a:prstGeom>
          <a:solidFill>
            <a:srgbClr val="3C3C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Anchor Investments in Mainboard IPOs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Leverage preferential allocations for early exposure, listing gains, and post-lock-in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560320"/>
            <a:ext cx="5029200" cy="1371600"/>
          </a:xfrm>
          <a:prstGeom prst="rect">
            <a:avLst/>
          </a:prstGeom>
          <a:solidFill>
            <a:srgbClr val="3C3C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6517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SME IPO Participation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Focus on SMEs with high-growth potential and less institutional 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389120"/>
            <a:ext cx="5029200" cy="1371600"/>
          </a:xfrm>
          <a:prstGeom prst="rect">
            <a:avLst/>
          </a:prstGeom>
          <a:solidFill>
            <a:srgbClr val="3C3C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Pre-IPO Rounds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Back scalable businesses 12-36 months from listing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389120"/>
            <a:ext cx="5029200" cy="1371600"/>
          </a:xfrm>
          <a:prstGeom prst="rect">
            <a:avLst/>
          </a:prstGeom>
          <a:solidFill>
            <a:srgbClr val="3C3C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4805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Early-Stage Startups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93776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Opportunistic allocation to startups with strong teams and near-term listing roadmaps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Market Context &amp; Rationale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India's Capital Markets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3200400" cy="109728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C2C2C"/>
                </a:solidFill>
                <a:latin typeface="Segoe UI"/>
              </a:defRPr>
            </a:pPr>
            <a:r>
              <a:t>400+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2C2C"/>
                </a:solidFill>
                <a:latin typeface="Segoe UI"/>
              </a:defRPr>
            </a:pPr>
            <a:r>
              <a:t>IPOs launched since FY 2020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560320"/>
            <a:ext cx="3200400" cy="109728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C2C2C"/>
                </a:solidFill>
                <a:latin typeface="Segoe UI"/>
              </a:defRPr>
            </a:pPr>
            <a:r>
              <a:t>₹1.25 Lakh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2C2C"/>
                </a:solidFill>
                <a:latin typeface="Segoe UI"/>
              </a:defRPr>
            </a:pPr>
            <a:r>
              <a:t>Capital raised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560320"/>
            <a:ext cx="3200400" cy="109728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C2C2C"/>
                </a:solidFill>
                <a:latin typeface="Segoe UI"/>
              </a:defRPr>
            </a:pPr>
            <a:r>
              <a:t>25%+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2C2C"/>
                </a:solidFill>
                <a:latin typeface="Segoe UI"/>
              </a:defRPr>
            </a:pPr>
            <a:r>
              <a:t>CAGR in SME listings (5 years)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114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Anchor Investor Edge: Consistently outperformed due to better entry price and insider participation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663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Retail Interest Growing: Institutions with early entry rights maintain a substantial 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212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Credora Capital's Role: Bridging the capital gap for SMEs and leveraging this trend through professional primary market investment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Ideal Investor Profile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Who is this Fund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Investors seeking moderate to high-risk investments in India's high-growth equity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34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Those with a medium-to-long term investment horizon (5+ years)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Investors who understand and accept market volatility and potential lock-in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1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93191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Seeking diversified, actively managed exposure to primary market opportunities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Investor Types: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QIBs • HNIs • Family Offices • Corporates • Investment Trusts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Key Metrics &amp; Fund Structure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0" y="1828800"/>
            <a:ext cx="6702552" cy="137160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920240"/>
            <a:ext cx="6702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2C2C"/>
                </a:solidFill>
                <a:latin typeface="Segoe UI"/>
              </a:defRPr>
            </a:pPr>
            <a:r>
              <a:t>₹1000 Crores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560320"/>
            <a:ext cx="6702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2C2C"/>
                </a:solidFill>
                <a:latin typeface="Segoe UI"/>
              </a:defRPr>
            </a:pPr>
            <a:r>
              <a:t>Minimum AUM Target (Initial Close)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Fund Tenure: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840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7 to 8 years (with possibility of extension by LP consent)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Minimum Investment: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5720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₹1 crore (aligned with SEBI's Qualified Investor norms)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Fund 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3035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Category I AIF (SEBI AIF Regulations, 2012)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Risk Factors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Understanding the Investment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5029200" cy="914400"/>
          </a:xfrm>
          <a:prstGeom prst="rect">
            <a:avLst/>
          </a:prstGeom>
          <a:solidFill>
            <a:srgbClr val="502828"/>
          </a:solidFill>
          <a:ln w="25400">
            <a:solidFill>
              <a:srgbClr val="C8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878"/>
                </a:solidFill>
                <a:latin typeface="Segoe UI"/>
              </a:defRPr>
            </a:pPr>
            <a:r>
              <a:t>Market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Equity investments are subject to market volatility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560320"/>
            <a:ext cx="5029200" cy="914400"/>
          </a:xfrm>
          <a:prstGeom prst="rect">
            <a:avLst/>
          </a:prstGeom>
          <a:solidFill>
            <a:srgbClr val="502828"/>
          </a:solidFill>
          <a:ln w="25400">
            <a:solidFill>
              <a:srgbClr val="C8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6517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878"/>
                </a:solidFill>
                <a:latin typeface="Segoe UI"/>
              </a:defRPr>
            </a:pPr>
            <a:r>
              <a:t>Liquidity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Pre-IPO and SME investments may have limited liquidity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57600"/>
            <a:ext cx="5029200" cy="914400"/>
          </a:xfrm>
          <a:prstGeom prst="rect">
            <a:avLst/>
          </a:prstGeom>
          <a:solidFill>
            <a:srgbClr val="502828"/>
          </a:solidFill>
          <a:ln w="25400">
            <a:solidFill>
              <a:srgbClr val="C8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878"/>
                </a:solidFill>
                <a:latin typeface="Segoe UI"/>
              </a:defRPr>
            </a:pPr>
            <a:r>
              <a:t>Regulatory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Changes in SEBI guidelines, taxation, or government regulations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57600"/>
            <a:ext cx="5029200" cy="914400"/>
          </a:xfrm>
          <a:prstGeom prst="rect">
            <a:avLst/>
          </a:prstGeom>
          <a:solidFill>
            <a:srgbClr val="502828"/>
          </a:solidFill>
          <a:ln w="25400">
            <a:solidFill>
              <a:srgbClr val="C8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7490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878"/>
                </a:solidFill>
                <a:latin typeface="Segoe UI"/>
              </a:defRPr>
            </a:pPr>
            <a:r>
              <a:t>Business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Higher operational/financial risks in SMEs and early-stage companies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754879"/>
            <a:ext cx="5029200" cy="914400"/>
          </a:xfrm>
          <a:prstGeom prst="rect">
            <a:avLst/>
          </a:prstGeom>
          <a:solidFill>
            <a:srgbClr val="502828"/>
          </a:solidFill>
          <a:ln w="25400">
            <a:solidFill>
              <a:srgbClr val="C8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4631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878"/>
                </a:solidFill>
                <a:latin typeface="Segoe UI"/>
              </a:defRPr>
            </a:pPr>
            <a:r>
              <a:t>Concentration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3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Potential for concentrated exposure in select sectors/companies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754879"/>
            <a:ext cx="5029200" cy="914400"/>
          </a:xfrm>
          <a:prstGeom prst="rect">
            <a:avLst/>
          </a:prstGeom>
          <a:solidFill>
            <a:srgbClr val="502828"/>
          </a:solidFill>
          <a:ln w="25400">
            <a:solidFill>
              <a:srgbClr val="C8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4631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878"/>
                </a:solidFill>
                <a:latin typeface="Segoe UI"/>
              </a:defRPr>
            </a:pPr>
            <a:r>
              <a:t>Valuation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12063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Uncertainties in pre-IPO valuations due to limited comparables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J-Curve &amp; Capital Deployment Timeline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Investment Horizon and Return Realization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60152" cy="914400"/>
          </a:xfrm>
          <a:prstGeom prst="rect">
            <a:avLst/>
          </a:prstGeom>
          <a:solidFill>
            <a:srgbClr val="3C3C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Anchor IPO Investments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606040"/>
            <a:ext cx="2286000" cy="36576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606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2C2C"/>
                </a:solidFill>
                <a:latin typeface="Segoe UI"/>
              </a:defRPr>
            </a:pPr>
            <a:r>
              <a:t>1-3 months post lock-in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Shorter, shallower J-curve; quicker realization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749039"/>
            <a:ext cx="10360152" cy="914400"/>
          </a:xfrm>
          <a:prstGeom prst="rect">
            <a:avLst/>
          </a:prstGeom>
          <a:solidFill>
            <a:srgbClr val="3C3C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7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SME IPO Investments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794759"/>
            <a:ext cx="2286000" cy="36576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79475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2C2C"/>
                </a:solidFill>
                <a:latin typeface="Segoe UI"/>
              </a:defRPr>
            </a:pPr>
            <a:r>
              <a:t>Medium-term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3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Medium-term J-curve; exits via lock-in expiry or secondary market transactions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937760"/>
            <a:ext cx="10360152" cy="914400"/>
          </a:xfrm>
          <a:prstGeom prst="rect">
            <a:avLst/>
          </a:prstGeom>
          <a:solidFill>
            <a:srgbClr val="3C3C3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Pre-IPO &amp; Early-Stage Investments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983480"/>
            <a:ext cx="2286000" cy="36576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983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2C2C"/>
                </a:solidFill>
                <a:latin typeface="Segoe UI"/>
              </a:defRPr>
            </a:pPr>
            <a:r>
              <a:t>2-4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Longer, potentially steeper J-curve; returns over 2-4 years, depending on company's IPO path or liquidity events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Fund Management Team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Expertise Driving Credora Capital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10360152" cy="1645920"/>
          </a:xfrm>
          <a:prstGeom prst="rect">
            <a:avLst/>
          </a:prstGeom>
          <a:solidFill>
            <a:srgbClr val="323232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Segoe UI"/>
              </a:defRPr>
            </a:pPr>
            <a:r>
              <a:t>Fund Manager &amp; Lead Investment Strategist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Shubham Gupta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Over 10 years of experience in primary/secondary markets, specializing in IPOs and SME equity. Leveraging deep market insight and analytical expertise for investment decisions, portfolio construction, and exit planning.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Advisors &amp; Consultants - Distinguished panel with expertise 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72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Regulatory Compliance &amp; SEBI Guidelines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20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IPO Due Diligence &amp; SME Market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Legal &amp; Tax Structuring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1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621791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Financial Modelling &amp; 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7665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6766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Investor Relations &amp; Fundraising Strategies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Future Team Expansion &amp; Partnerships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Building for Scalability &amp; Deal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Segoe UI"/>
              </a:defRPr>
            </a:pPr>
            <a:r>
              <a:t>Future Team (Next 12 Months):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Investment Analysts (financial due diligence, SME research)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00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Compliance &amp; Risk Officers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749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Operations &amp; Investor Relations Professionals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Segoe UI"/>
              </a:defRPr>
            </a:pPr>
            <a:r>
              <a:t>Strategic Collaborations - Actively exploring partnerships with: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SME Industry Associations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Investment Banks &amp; IPO Brokers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577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Legal &amp; Accounting Firms (SME/IPO Specialized)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2647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612647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Research &amp; Analytics Providers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Fees, Terms &amp; Contact Information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Investment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Management Fee: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4688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3% per annum of committed capital (charged quarterly)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Hurdle Rate: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9260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12% per annum preferred return to LPs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Segoe UI"/>
              </a:defRPr>
            </a:pPr>
            <a:r>
              <a:t>Performance Fee (Carry):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832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To be decided/standard 20% over hurdle rate (optional)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Key Terms: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• Minimum Lock-in: 3 years from capital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• Redemption: Allowed post lock-in, subject to fund liquidity and exit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• Reporting: Quarterly NAV calculations, SEBI valuation guidelines, transparent investor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• Audit &amp; Compliance: Annual audit by independent auditors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097280" cy="7070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Segoe UI"/>
              </a:defRPr>
            </a:pPr>
            <a:r>
              <a:t>Investor Eligibility &amp; Commitment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97280"/>
            <a:ext cx="91440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Who Can Invest?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Eligible Investors: Qualified Institutional Buyers (QIBs) and High Net Worth Individuals (HNIs) as per SEBI guidelines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200400"/>
            <a:ext cx="4873752" cy="109728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291840"/>
            <a:ext cx="4873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C2C2C"/>
                </a:solidFill>
                <a:latin typeface="Segoe UI"/>
              </a:defRPr>
            </a:pPr>
            <a:r>
              <a:t>₹1 Crore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84048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Segoe UI"/>
              </a:defRPr>
            </a:pPr>
            <a:r>
              <a:t>Minimum Investment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Investor Communication - Detailed quarterly reports including: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120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Portfolio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NAV statements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179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6217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Market outlook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edor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2286000" cy="14730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D4AF37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t>We look forward to building long-term value with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